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505450"/>
            <a:ext cx="11049000" cy="876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5275" y="2883693"/>
            <a:ext cx="11601450" cy="547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312"/>
              </a:lnSpc>
            </a:pPr>
            <a:r>
              <a:rPr sz="3450" b="1" i="0" u="none">
                <a:solidFill>
                  <a:srgbClr val="0F172A"/>
                </a:solidFill>
                <a:latin typeface="Poppins"/>
              </a:rPr>
              <a:t>Data Science &amp; Machine Learning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574256"/>
            <a:ext cx="11049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4F46E5"/>
                </a:solidFill>
                <a:latin typeface="Inter SemiBold"/>
              </a:rPr>
              <a:t>End-to-End Predictive Modeling &amp; Social Media Sentiment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1397" y="5743575"/>
            <a:ext cx="250031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Inter SemiBold"/>
              </a:rPr>
              <a:t>Student Name</a:t>
            </a:r>
            <a:r>
              <a:rPr sz="1200" b="0" i="0" u="none" dirty="0">
                <a:solidFill>
                  <a:srgbClr val="000000"/>
                </a:solidFill>
                <a:latin typeface="Inter"/>
              </a:rPr>
              <a:t> </a:t>
            </a:r>
            <a:r>
              <a:rPr sz="1200" b="1" i="0" u="none" dirty="0">
                <a:solidFill>
                  <a:srgbClr val="0F172A"/>
                </a:solidFill>
                <a:latin typeface="Inter"/>
              </a:rPr>
              <a:t>[</a:t>
            </a:r>
            <a:r>
              <a:rPr lang="en-US" sz="1200" b="1" dirty="0">
                <a:solidFill>
                  <a:srgbClr val="0F172A"/>
                </a:solidFill>
                <a:latin typeface="Inter"/>
              </a:rPr>
              <a:t>Anushka Singh</a:t>
            </a:r>
            <a:r>
              <a:rPr sz="1200" b="1" i="0" u="none" dirty="0">
                <a:solidFill>
                  <a:srgbClr val="0F172A"/>
                </a:solidFill>
                <a:latin typeface="Inter"/>
              </a:rPr>
              <a:t>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437" y="5743575"/>
            <a:ext cx="250031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Inter SemiBold"/>
              </a:rPr>
              <a:t>Enrollment Number</a:t>
            </a:r>
            <a:r>
              <a:rPr sz="1200" b="0" i="0" u="none" dirty="0">
                <a:solidFill>
                  <a:srgbClr val="000000"/>
                </a:solidFill>
                <a:latin typeface="Inter"/>
              </a:rPr>
              <a:t> </a:t>
            </a:r>
            <a:r>
              <a:rPr sz="1200" b="1" i="0" u="none" dirty="0">
                <a:solidFill>
                  <a:srgbClr val="0F172A"/>
                </a:solidFill>
                <a:latin typeface="Inter"/>
              </a:rPr>
              <a:t>[</a:t>
            </a:r>
            <a:r>
              <a:rPr lang="en-US" sz="1200" b="1" dirty="0">
                <a:solidFill>
                  <a:srgbClr val="0F172A"/>
                </a:solidFill>
                <a:latin typeface="Inter"/>
              </a:rPr>
              <a:t>25scs1003004411</a:t>
            </a:r>
            <a:r>
              <a:rPr sz="1200" b="1" i="0" u="none" dirty="0">
                <a:solidFill>
                  <a:srgbClr val="0F172A"/>
                </a:solidFill>
                <a:latin typeface="Inter"/>
              </a:rPr>
              <a:t>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0" y="5743575"/>
            <a:ext cx="250031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Inter SemiBold"/>
              </a:rPr>
              <a:t>Program &amp; Semester</a:t>
            </a:r>
            <a:r>
              <a:rPr sz="1200" b="0" i="0" u="none" dirty="0">
                <a:solidFill>
                  <a:srgbClr val="000000"/>
                </a:solidFill>
                <a:latin typeface="Inter"/>
              </a:rPr>
              <a:t> </a:t>
            </a:r>
            <a:r>
              <a:rPr sz="1200" b="1" i="0" u="none" dirty="0" err="1">
                <a:solidFill>
                  <a:srgbClr val="0F172A"/>
                </a:solidFill>
                <a:latin typeface="Inter"/>
              </a:rPr>
              <a:t>B.Tech</a:t>
            </a:r>
            <a:r>
              <a:rPr sz="1200" b="1" i="0" u="none" dirty="0">
                <a:solidFill>
                  <a:srgbClr val="0F172A"/>
                </a:solidFill>
                <a:latin typeface="Inter"/>
              </a:rPr>
              <a:t> CSE</a:t>
            </a:r>
            <a:r>
              <a:rPr lang="en-US" sz="1200" b="1" i="0" u="none" dirty="0">
                <a:solidFill>
                  <a:srgbClr val="0F172A"/>
                </a:solidFill>
                <a:latin typeface="Inter"/>
              </a:rPr>
              <a:t>AI ML IBM</a:t>
            </a:r>
            <a:r>
              <a:rPr sz="1200" b="1" i="0" u="none" dirty="0">
                <a:solidFill>
                  <a:srgbClr val="0F172A"/>
                </a:solidFill>
                <a:latin typeface="Inter"/>
              </a:rPr>
              <a:t> | Semester </a:t>
            </a:r>
            <a:r>
              <a:rPr lang="en-US" sz="1200" b="1" dirty="0">
                <a:solidFill>
                  <a:srgbClr val="0F172A"/>
                </a:solidFill>
                <a:latin typeface="Inter"/>
              </a:rPr>
              <a:t>3</a:t>
            </a:r>
            <a:endParaRPr sz="1200" b="1" i="0" u="none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82062" y="5743575"/>
            <a:ext cx="250031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 SemiBold"/>
              </a:rPr>
              <a:t>Organization Name</a:t>
            </a:r>
            <a:r>
              <a:rPr sz="1200" b="0" i="0" u="none">
                <a:solidFill>
                  <a:srgbClr val="000000"/>
                </a:solidFill>
                <a:latin typeface="Inter"/>
              </a:rPr>
              <a:t> </a:t>
            </a:r>
            <a:r>
              <a:rPr sz="1200" b="1" i="0" u="none">
                <a:solidFill>
                  <a:srgbClr val="0F172A"/>
                </a:solidFill>
                <a:latin typeface="Inter"/>
              </a:rPr>
              <a:t>Analytics Solutions Ltd.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76250"/>
            <a:ext cx="666750" cy="6667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28750" y="647700"/>
            <a:ext cx="230028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E293B"/>
                </a:solidFill>
                <a:latin typeface="Inter"/>
              </a:rPr>
              <a:t>IILM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52662"/>
            <a:ext cx="5334000" cy="3305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252662"/>
            <a:ext cx="5334000" cy="3305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595562"/>
            <a:ext cx="488061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4F46E5"/>
                </a:solidFill>
                <a:latin typeface="Poppins"/>
              </a:rPr>
              <a:t>Project 1: Customer Churn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71812"/>
            <a:ext cx="46482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Goal: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Identify customers at risk of leaving telecommunication services.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00462"/>
            <a:ext cx="46482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Methodology: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Supervised Machine Learning classification models evaluating customer demographics, usage metrics, and billing patterns.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86287"/>
            <a:ext cx="46482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Business Impact: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Enables proactive customer retention strategies to reduce revenue loss.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595562"/>
            <a:ext cx="488061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4F46E5"/>
                </a:solidFill>
                <a:latin typeface="Poppins"/>
              </a:rPr>
              <a:t>Project 2: Twitter Sentiment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071812"/>
            <a:ext cx="46482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Goal: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Capture public sentiment and brand perception from unstructured Twitter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700462"/>
            <a:ext cx="46482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Methodology: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Natural Language Processing (NLP) pipeline combining TF-IDF vectorization and classification models.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586287"/>
            <a:ext cx="46482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Business Impact: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Provides real-time social media intelligence for marketing teams.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293B"/>
                </a:solidFill>
                <a:latin typeface="Poppins"/>
              </a:rPr>
              <a:t>Executive Portfolio Overview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80072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293B"/>
                </a:solidFill>
                <a:latin typeface="Poppins"/>
              </a:rPr>
              <a:t>Host Organization Profile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114425"/>
            <a:ext cx="5524500" cy="28575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2438400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1428750"/>
            <a:ext cx="58007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4F46E5"/>
                </a:solidFill>
                <a:latin typeface="Poppins"/>
              </a:rPr>
              <a:t>Analytics Solutions Ltd.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943100"/>
            <a:ext cx="55245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Worked with the Enterprise Data &amp; AI Team, collaborating directly with senior data scientists and machine learning engineers.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575321"/>
            <a:ext cx="55245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334155"/>
                </a:solidFill>
                <a:latin typeface="Inter"/>
              </a:rPr>
              <a:t>Key Objectives:</a:t>
            </a:r>
            <a:r>
              <a:rPr sz="1275" b="0" i="0" u="none">
                <a:solidFill>
                  <a:srgbClr val="334155"/>
                </a:solidFill>
                <a:latin typeface="Inter"/>
              </a:rPr>
              <a:t> Develop scalable predictive models, transform raw business data into actionable insights, and automate end-to-end NLP analytics pipelines.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00325"/>
            <a:ext cx="3492549" cy="2609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600325"/>
            <a:ext cx="3492549" cy="2609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600325"/>
            <a:ext cx="3492549" cy="26098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62568" y="3571875"/>
            <a:ext cx="2110263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1E293B"/>
                </a:solidFill>
                <a:latin typeface="Poppins"/>
              </a:rPr>
              <a:t>1. Data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4000500"/>
            <a:ext cx="29019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Extracted, cleaned, and normalized structured tabular data and unstructured text pipelines with Pandas and Scikit-Learn.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60845" y="3571875"/>
            <a:ext cx="247030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1E293B"/>
                </a:solidFill>
                <a:latin typeface="Poppins"/>
              </a:rPr>
              <a:t>2. Model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074" y="4000500"/>
            <a:ext cx="29019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Trained and cross-validated supervised machine learning and NLP classifiers optimizing for precision and recall.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4185" y="3571875"/>
            <a:ext cx="182022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1E293B"/>
                </a:solidFill>
                <a:latin typeface="Poppins"/>
              </a:rPr>
              <a:t>3. Reporting &amp; 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3374" y="4000500"/>
            <a:ext cx="29019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Inter"/>
              </a:rPr>
              <a:t>Generated actionable dashboards and model evaluation metrics for business stakeholders and department leads.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1487" y="2933700"/>
            <a:ext cx="352425" cy="4000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5975" y="2933700"/>
            <a:ext cx="400050" cy="4000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74274" y="2933700"/>
            <a:ext cx="400050" cy="4000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293B"/>
                </a:solidFill>
                <a:latin typeface="Poppins"/>
              </a:rPr>
              <a:t>Core Internship Responsibilities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881312"/>
            <a:ext cx="56007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172A"/>
                </a:solidFill>
                <a:latin typeface="Poppins"/>
              </a:rPr>
              <a:t>Predictive Retention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157537"/>
            <a:ext cx="53340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Customer acquisition is 5x more costly than customer retention. Identifying high-risk accounts prior to cancellation is vital for recurring revenue stability.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043362"/>
            <a:ext cx="53340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Pipeline Strategy: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Preprocessed customer demographic, tenure, and payment logs. Implemented SMOTE technique to handle class imbalance before feature scaling.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95500"/>
            <a:ext cx="2114550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293B"/>
                </a:solidFill>
                <a:latin typeface="Poppins"/>
              </a:rPr>
              <a:t>Project 1: Customer Churn Prediction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F1D8A5-F9CD-9520-C974-49450B0CE3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688193"/>
            <a:ext cx="4934643" cy="26246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28750"/>
            <a:ext cx="11049000" cy="495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28725" y="4872037"/>
            <a:ext cx="97345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1" u="none">
                <a:solidFill>
                  <a:srgbClr val="475569"/>
                </a:solidFill>
                <a:latin typeface="Inter"/>
              </a:rPr>
              <a:t>XGBoost achieved an optimal ROC-AUC score of 0.89 and an accuracy of 86%, effectively identifying 84% of churn-prone customers.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293B"/>
                </a:solidFill>
                <a:latin typeface="Poppins"/>
              </a:rPr>
              <a:t>Project 1: Model Accuracy Benchmarks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881312"/>
            <a:ext cx="56007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172A"/>
                </a:solidFill>
                <a:latin typeface="Poppins"/>
              </a:rPr>
              <a:t>Social Media NLP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157537"/>
            <a:ext cx="53340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Social media conversations yield vast real-time customer feedback. Automated sentiment tracking enables immediate response to public sentiment trends.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043362"/>
            <a:ext cx="53340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Preprocessing &amp; Vectorization: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Cleaned raw tweet text (regex URL/mention removal, lowercasing, stop-word removal, lemmatization) and transformed words into TF-IDF vectors.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293B"/>
                </a:solidFill>
                <a:latin typeface="Poppins"/>
              </a:rPr>
              <a:t>Project 2: Twitter Sentiment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AFB9AB9-B5C6-5A91-B24B-49942484F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64570"/>
            <a:ext cx="5748198" cy="28717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28750"/>
            <a:ext cx="11049000" cy="495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238750"/>
            <a:ext cx="1104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1" u="none">
                <a:solidFill>
                  <a:srgbClr val="475569"/>
                </a:solidFill>
                <a:latin typeface="Inter"/>
              </a:rPr>
              <a:t>The analysis highlighted a 48% overall positive sentiment polarity, while negative spikes (22%) were flagged for immediate customer support intervention.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293B"/>
                </a:solidFill>
                <a:latin typeface="Poppins"/>
              </a:rPr>
              <a:t>Project 2: Tweet Sentiment Proportions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476500"/>
            <a:ext cx="11049000" cy="28575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476500"/>
          <a:ext cx="11048999" cy="285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6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7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44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E293B"/>
                          </a:solidFill>
                          <a:latin typeface="Inter"/>
                        </a:rPr>
                        <a:t>Metric / Dimension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E293B"/>
                          </a:solidFill>
                          <a:latin typeface="Inter"/>
                        </a:rPr>
                        <a:t>Project 1: Churn Prediction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E293B"/>
                          </a:solidFill>
                          <a:latin typeface="Inter"/>
                        </a:rPr>
                        <a:t>Project 2: Twitter Sentiment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Inter"/>
                        </a:rPr>
                        <a:t>Data Format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Inter"/>
                        </a:rPr>
                        <a:t>Structured Tabular Records (CSV)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Inter"/>
                        </a:rPr>
                        <a:t>Unstructured Text (Twitter Stream)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Inter"/>
                        </a:rPr>
                        <a:t>Tech Stack &amp; Tools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Inter"/>
                        </a:rPr>
                        <a:t>Python, Pandas, Scikit-Learn, XGBoost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Inter"/>
                        </a:rPr>
                        <a:t>Python, NLTK, TF-IDF, Linear SVM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Inter"/>
                        </a:rPr>
                        <a:t>Optimal 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Inter"/>
                        </a:rPr>
                        <a:t>XGBoost Classifier (86% Accuracy)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Inter"/>
                        </a:rPr>
                        <a:t>Linear SVM (84% Accuracy)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475569"/>
                          </a:solidFill>
                          <a:latin typeface="Inter"/>
                        </a:rPr>
                        <a:t>Business Impact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Inter"/>
                        </a:rPr>
                        <a:t>Reduces customer attrition by ~18%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Inter"/>
                        </a:rPr>
                        <a:t>Automates real-time brand sentiment tracking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1500" y="3033712"/>
            <a:ext cx="22468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818358" y="3033712"/>
            <a:ext cx="40573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75710" y="3033712"/>
            <a:ext cx="47447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3605212"/>
            <a:ext cx="22468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818358" y="3605212"/>
            <a:ext cx="40573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75710" y="3605212"/>
            <a:ext cx="47447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4176712"/>
            <a:ext cx="22468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18358" y="4176712"/>
            <a:ext cx="40573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75710" y="4176712"/>
            <a:ext cx="47447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4748212"/>
            <a:ext cx="22468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818358" y="4748212"/>
            <a:ext cx="40573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75710" y="4748212"/>
            <a:ext cx="47447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1500" y="5319712"/>
            <a:ext cx="22468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818358" y="5319712"/>
            <a:ext cx="40573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75710" y="5319712"/>
            <a:ext cx="47447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293B"/>
                </a:solidFill>
                <a:latin typeface="Poppins"/>
              </a:rPr>
              <a:t>Projects &amp; Tech Stack Comparison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00250" y="2457450"/>
            <a:ext cx="86201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End-to-End Machine Learning Workflow: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Gained hands-on experience in feature engineering, hyperparameter tuning, and production model evaluation.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00250" y="3181350"/>
            <a:ext cx="86201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Natural Language Processing (NLP):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Mastered text preprocessing pipelines, tokenization, stop-word filtering, and vectorization using NLTK and Scikit-Learn.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00250" y="3905250"/>
            <a:ext cx="86201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Business-Centric Data Storytelling: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Translated complex algorithmic outputs into strategic data insights for management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250" y="4629150"/>
            <a:ext cx="86201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Inter"/>
              </a:rPr>
              <a:t>Corporate Collaboration: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Integrated into agile sprint meetings, peer code reviews, and cross-functional team presentations.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5" y="2486025"/>
            <a:ext cx="228600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625" y="3209925"/>
            <a:ext cx="28575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1625" y="3933825"/>
            <a:ext cx="2286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1625" y="4657725"/>
            <a:ext cx="285750" cy="247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293B"/>
                </a:solidFill>
                <a:latin typeface="Poppins"/>
              </a:rPr>
              <a:t>Key Learnings &amp; Technical Skills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476250"/>
            <a:ext cx="116014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4F46E5"/>
                </a:solidFill>
                <a:latin typeface="Poppins"/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647825"/>
            <a:ext cx="11049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475569"/>
                </a:solidFill>
                <a:latin typeface="Inter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371725"/>
            <a:ext cx="11049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 Medium"/>
              </a:rPr>
              <a:t>IILM University | Department of Computer Science &amp;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00100" y="2752725"/>
            <a:ext cx="105918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0100" y="3524250"/>
            <a:ext cx="105918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0100" y="3514725"/>
            <a:ext cx="10591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0100" y="3514725"/>
            <a:ext cx="10591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0100" y="4286250"/>
            <a:ext cx="10591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0100" y="4286250"/>
            <a:ext cx="10591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895600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95475" y="2902743"/>
            <a:ext cx="94964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https://f2.leadsquaredcdn.com/t/iilmuniversity/content/common/images/landingpages/circular%20logo-01.png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5475" y="3136106"/>
            <a:ext cx="94964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admissions.iilm.edu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667125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95475" y="3674268"/>
            <a:ext cx="94964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https://www.slideteam.net/media/catalog/product/cache/1280x720/c/u/customer_metrics_dashboard_for_managing_retention_rate_slide01.jpg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95475" y="3907631"/>
            <a:ext cx="94964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www.slideteam.net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4438650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95475" y="4445793"/>
            <a:ext cx="94964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https://cdn.prod.website-files.com/6641d3051a4e3c3f8f0e307d/68c780f48e7f964737dcc14b_20250213-BLOG---text-analytics-for-Social-mediaArtboard-1.webp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95475" y="4679156"/>
            <a:ext cx="94964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getthematic.com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47625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293B"/>
                </a:solidFill>
                <a:latin typeface="Poppins"/>
              </a:rPr>
              <a:t>Image Sources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114425"/>
            <a:ext cx="11049000" cy="28575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713</Words>
  <Application>Microsoft Office PowerPoint</Application>
  <PresentationFormat>Widescreen</PresentationFormat>
  <Paragraphs>70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Inter</vt:lpstr>
      <vt:lpstr>Inter Medium</vt:lpstr>
      <vt:lpstr>Inter SemiBold</vt:lpstr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Anushka Singh</dc:creator>
  <cp:keywords/>
  <dc:description>generated using python-pptx</dc:description>
  <cp:lastModifiedBy>anushkasingh1414@outlook.com</cp:lastModifiedBy>
  <cp:revision>3</cp:revision>
  <dcterms:created xsi:type="dcterms:W3CDTF">2013-01-27T09:14:16Z</dcterms:created>
  <dcterms:modified xsi:type="dcterms:W3CDTF">2026-09-10T00:12:10Z</dcterms:modified>
  <cp:category/>
</cp:coreProperties>
</file>